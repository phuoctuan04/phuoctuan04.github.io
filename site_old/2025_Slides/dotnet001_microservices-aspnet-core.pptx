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3004800" cy="7315200"/>
  <p:notesSz cx="7315200" cy="13004800"/>
  <p:embeddedFontLst>
    <p:embeddedFont>
      <p:font typeface="MiSans" panose="020B0604020202020204" charset="-122"/>
      <p:regular r:id="rId12"/>
    </p:embeddedFont>
    <p:embeddedFont>
      <p:font typeface="Noto Sans SC" panose="020B0604020202020204" charset="-12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Liter" panose="020B0604020202020204" charset="0"/>
      <p:regular r:id="rId18"/>
    </p:embeddedFont>
    <p:embeddedFont>
      <p:font typeface="Oranienbaum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051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980"/>
              </a:gs>
              <a:gs pos="100000">
                <a:srgbClr val="26D0CE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8800" y="1498600"/>
            <a:ext cx="1188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Microservices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58800" y="2362200"/>
            <a:ext cx="1188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with ASP.NET Core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89600" y="35306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58800" y="3987800"/>
            <a:ext cx="1188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Scalable, Resilient Distributed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78400" y="5003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197475" y="521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1336" y="-967"/>
                </a:moveTo>
                <a:cubicBezTo>
                  <a:pt x="198462" y="-8409"/>
                  <a:pt x="182538" y="-8409"/>
                  <a:pt x="169664" y="-967"/>
                </a:cubicBezTo>
                <a:lnTo>
                  <a:pt x="107007" y="35198"/>
                </a:lnTo>
                <a:cubicBezTo>
                  <a:pt x="94134" y="42639"/>
                  <a:pt x="86171" y="56406"/>
                  <a:pt x="86171" y="71289"/>
                </a:cubicBezTo>
                <a:lnTo>
                  <a:pt x="86171" y="147117"/>
                </a:lnTo>
                <a:lnTo>
                  <a:pt x="20464" y="185068"/>
                </a:lnTo>
                <a:cubicBezTo>
                  <a:pt x="7590" y="192509"/>
                  <a:pt x="-372" y="206276"/>
                  <a:pt x="-372" y="221159"/>
                </a:cubicBezTo>
                <a:lnTo>
                  <a:pt x="-372" y="293563"/>
                </a:lnTo>
                <a:cubicBezTo>
                  <a:pt x="-372" y="308446"/>
                  <a:pt x="7590" y="322213"/>
                  <a:pt x="20464" y="329654"/>
                </a:cubicBezTo>
                <a:lnTo>
                  <a:pt x="83195" y="365820"/>
                </a:lnTo>
                <a:cubicBezTo>
                  <a:pt x="96069" y="373261"/>
                  <a:pt x="111993" y="373261"/>
                  <a:pt x="124867" y="365820"/>
                </a:cubicBezTo>
                <a:lnTo>
                  <a:pt x="190574" y="327868"/>
                </a:lnTo>
                <a:lnTo>
                  <a:pt x="256282" y="365820"/>
                </a:lnTo>
                <a:cubicBezTo>
                  <a:pt x="269156" y="373261"/>
                  <a:pt x="285080" y="373261"/>
                  <a:pt x="297954" y="365820"/>
                </a:cubicBezTo>
                <a:lnTo>
                  <a:pt x="360536" y="329654"/>
                </a:lnTo>
                <a:cubicBezTo>
                  <a:pt x="373410" y="322213"/>
                  <a:pt x="381372" y="308446"/>
                  <a:pt x="381372" y="293563"/>
                </a:cubicBezTo>
                <a:lnTo>
                  <a:pt x="381372" y="221159"/>
                </a:lnTo>
                <a:cubicBezTo>
                  <a:pt x="381372" y="206276"/>
                  <a:pt x="373410" y="192509"/>
                  <a:pt x="360536" y="185068"/>
                </a:cubicBezTo>
                <a:lnTo>
                  <a:pt x="294829" y="147117"/>
                </a:lnTo>
                <a:lnTo>
                  <a:pt x="294829" y="71289"/>
                </a:lnTo>
                <a:cubicBezTo>
                  <a:pt x="294829" y="56406"/>
                  <a:pt x="286866" y="42639"/>
                  <a:pt x="273993" y="35198"/>
                </a:cubicBezTo>
                <a:lnTo>
                  <a:pt x="211336" y="-967"/>
                </a:lnTo>
                <a:close/>
                <a:moveTo>
                  <a:pt x="172641" y="217736"/>
                </a:moveTo>
                <a:lnTo>
                  <a:pt x="172641" y="296987"/>
                </a:lnTo>
                <a:lnTo>
                  <a:pt x="106933" y="334938"/>
                </a:lnTo>
                <a:cubicBezTo>
                  <a:pt x="106040" y="335459"/>
                  <a:pt x="104998" y="335756"/>
                  <a:pt x="103956" y="335756"/>
                </a:cubicBezTo>
                <a:lnTo>
                  <a:pt x="103956" y="257398"/>
                </a:lnTo>
                <a:lnTo>
                  <a:pt x="172641" y="217736"/>
                </a:lnTo>
                <a:close/>
                <a:moveTo>
                  <a:pt x="344835" y="218182"/>
                </a:moveTo>
                <a:cubicBezTo>
                  <a:pt x="345356" y="219075"/>
                  <a:pt x="345653" y="220117"/>
                  <a:pt x="345653" y="221159"/>
                </a:cubicBezTo>
                <a:lnTo>
                  <a:pt x="345653" y="293563"/>
                </a:lnTo>
                <a:cubicBezTo>
                  <a:pt x="345653" y="295721"/>
                  <a:pt x="344537" y="297656"/>
                  <a:pt x="342677" y="298698"/>
                </a:cubicBezTo>
                <a:lnTo>
                  <a:pt x="279946" y="334863"/>
                </a:lnTo>
                <a:cubicBezTo>
                  <a:pt x="279053" y="335384"/>
                  <a:pt x="278011" y="335682"/>
                  <a:pt x="276969" y="335682"/>
                </a:cubicBezTo>
                <a:lnTo>
                  <a:pt x="276969" y="257324"/>
                </a:lnTo>
                <a:lnTo>
                  <a:pt x="344835" y="218182"/>
                </a:lnTo>
                <a:close/>
                <a:moveTo>
                  <a:pt x="259184" y="71289"/>
                </a:moveTo>
                <a:lnTo>
                  <a:pt x="259184" y="147117"/>
                </a:lnTo>
                <a:lnTo>
                  <a:pt x="190500" y="186779"/>
                </a:lnTo>
                <a:lnTo>
                  <a:pt x="190500" y="107528"/>
                </a:lnTo>
                <a:lnTo>
                  <a:pt x="258366" y="68387"/>
                </a:lnTo>
                <a:cubicBezTo>
                  <a:pt x="258887" y="69279"/>
                  <a:pt x="259184" y="70321"/>
                  <a:pt x="259184" y="713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0" y="5003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338888" y="52197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23812"/>
                </a:moveTo>
                <a:lnTo>
                  <a:pt x="159693" y="23812"/>
                </a:lnTo>
                <a:lnTo>
                  <a:pt x="159693" y="183505"/>
                </a:lnTo>
                <a:lnTo>
                  <a:pt x="0" y="183505"/>
                </a:lnTo>
                <a:lnTo>
                  <a:pt x="0" y="23812"/>
                </a:lnTo>
                <a:close/>
                <a:moveTo>
                  <a:pt x="173682" y="23812"/>
                </a:moveTo>
                <a:lnTo>
                  <a:pt x="333375" y="23812"/>
                </a:lnTo>
                <a:lnTo>
                  <a:pt x="333375" y="183505"/>
                </a:lnTo>
                <a:lnTo>
                  <a:pt x="173682" y="183505"/>
                </a:lnTo>
                <a:lnTo>
                  <a:pt x="173682" y="23812"/>
                </a:lnTo>
                <a:close/>
                <a:moveTo>
                  <a:pt x="0" y="197495"/>
                </a:moveTo>
                <a:lnTo>
                  <a:pt x="159693" y="197495"/>
                </a:lnTo>
                <a:lnTo>
                  <a:pt x="159693" y="357188"/>
                </a:lnTo>
                <a:lnTo>
                  <a:pt x="0" y="357188"/>
                </a:lnTo>
                <a:lnTo>
                  <a:pt x="0" y="197495"/>
                </a:lnTo>
                <a:close/>
                <a:moveTo>
                  <a:pt x="173682" y="197495"/>
                </a:moveTo>
                <a:lnTo>
                  <a:pt x="333375" y="197495"/>
                </a:lnTo>
                <a:lnTo>
                  <a:pt x="333375" y="357188"/>
                </a:lnTo>
                <a:lnTo>
                  <a:pt x="173682" y="357188"/>
                </a:lnTo>
                <a:lnTo>
                  <a:pt x="173682" y="19749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213600" y="5003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08863" y="52197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84547" y="65484"/>
                </a:moveTo>
                <a:lnTo>
                  <a:pt x="244078" y="65484"/>
                </a:lnTo>
                <a:lnTo>
                  <a:pt x="244078" y="101203"/>
                </a:lnTo>
                <a:lnTo>
                  <a:pt x="184547" y="101203"/>
                </a:lnTo>
                <a:lnTo>
                  <a:pt x="184547" y="65484"/>
                </a:lnTo>
                <a:close/>
                <a:moveTo>
                  <a:pt x="178594" y="23812"/>
                </a:moveTo>
                <a:cubicBezTo>
                  <a:pt x="158874" y="23812"/>
                  <a:pt x="142875" y="39812"/>
                  <a:pt x="142875" y="59531"/>
                </a:cubicBezTo>
                <a:lnTo>
                  <a:pt x="142875" y="107156"/>
                </a:lnTo>
                <a:cubicBezTo>
                  <a:pt x="142875" y="126876"/>
                  <a:pt x="158874" y="142875"/>
                  <a:pt x="178594" y="142875"/>
                </a:cubicBezTo>
                <a:lnTo>
                  <a:pt x="190500" y="142875"/>
                </a:lnTo>
                <a:lnTo>
                  <a:pt x="190500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95250" y="214313"/>
                </a:lnTo>
                <a:lnTo>
                  <a:pt x="95250" y="238125"/>
                </a:lnTo>
                <a:lnTo>
                  <a:pt x="83344" y="238125"/>
                </a:lnTo>
                <a:cubicBezTo>
                  <a:pt x="63624" y="238125"/>
                  <a:pt x="47625" y="254124"/>
                  <a:pt x="47625" y="273844"/>
                </a:cubicBezTo>
                <a:lnTo>
                  <a:pt x="47625" y="321469"/>
                </a:lnTo>
                <a:cubicBezTo>
                  <a:pt x="47625" y="341188"/>
                  <a:pt x="63624" y="357188"/>
                  <a:pt x="83344" y="357188"/>
                </a:cubicBezTo>
                <a:lnTo>
                  <a:pt x="154781" y="357188"/>
                </a:lnTo>
                <a:cubicBezTo>
                  <a:pt x="174501" y="357188"/>
                  <a:pt x="190500" y="341188"/>
                  <a:pt x="190500" y="321469"/>
                </a:cubicBezTo>
                <a:lnTo>
                  <a:pt x="190500" y="273844"/>
                </a:lnTo>
                <a:cubicBezTo>
                  <a:pt x="190500" y="254124"/>
                  <a:pt x="174501" y="238125"/>
                  <a:pt x="154781" y="238125"/>
                </a:cubicBezTo>
                <a:lnTo>
                  <a:pt x="142875" y="238125"/>
                </a:lnTo>
                <a:lnTo>
                  <a:pt x="142875" y="214313"/>
                </a:lnTo>
                <a:lnTo>
                  <a:pt x="285750" y="214313"/>
                </a:lnTo>
                <a:lnTo>
                  <a:pt x="285750" y="238125"/>
                </a:lnTo>
                <a:lnTo>
                  <a:pt x="273844" y="238125"/>
                </a:lnTo>
                <a:cubicBezTo>
                  <a:pt x="254124" y="238125"/>
                  <a:pt x="238125" y="254124"/>
                  <a:pt x="238125" y="273844"/>
                </a:cubicBezTo>
                <a:lnTo>
                  <a:pt x="238125" y="321469"/>
                </a:lnTo>
                <a:cubicBezTo>
                  <a:pt x="238125" y="341188"/>
                  <a:pt x="254124" y="357188"/>
                  <a:pt x="273844" y="357188"/>
                </a:cubicBezTo>
                <a:lnTo>
                  <a:pt x="345281" y="357188"/>
                </a:lnTo>
                <a:cubicBezTo>
                  <a:pt x="365001" y="357188"/>
                  <a:pt x="381000" y="341188"/>
                  <a:pt x="381000" y="321469"/>
                </a:cubicBezTo>
                <a:lnTo>
                  <a:pt x="381000" y="273844"/>
                </a:lnTo>
                <a:cubicBezTo>
                  <a:pt x="381000" y="254124"/>
                  <a:pt x="365001" y="238125"/>
                  <a:pt x="345281" y="238125"/>
                </a:cubicBezTo>
                <a:lnTo>
                  <a:pt x="333375" y="238125"/>
                </a:lnTo>
                <a:lnTo>
                  <a:pt x="333375" y="214313"/>
                </a:lnTo>
                <a:lnTo>
                  <a:pt x="404813" y="214313"/>
                </a:lnTo>
                <a:cubicBezTo>
                  <a:pt x="417984" y="214313"/>
                  <a:pt x="428625" y="203671"/>
                  <a:pt x="428625" y="190500"/>
                </a:cubicBezTo>
                <a:cubicBezTo>
                  <a:pt x="428625" y="177329"/>
                  <a:pt x="417984" y="166688"/>
                  <a:pt x="404813" y="166688"/>
                </a:cubicBezTo>
                <a:lnTo>
                  <a:pt x="238125" y="166688"/>
                </a:lnTo>
                <a:lnTo>
                  <a:pt x="238125" y="142875"/>
                </a:lnTo>
                <a:lnTo>
                  <a:pt x="250031" y="142875"/>
                </a:lnTo>
                <a:cubicBezTo>
                  <a:pt x="269751" y="142875"/>
                  <a:pt x="285750" y="126876"/>
                  <a:pt x="285750" y="107156"/>
                </a:cubicBezTo>
                <a:lnTo>
                  <a:pt x="285750" y="59531"/>
                </a:lnTo>
                <a:cubicBezTo>
                  <a:pt x="285750" y="39812"/>
                  <a:pt x="269751" y="23812"/>
                  <a:pt x="250031" y="23812"/>
                </a:cubicBezTo>
                <a:lnTo>
                  <a:pt x="178594" y="23812"/>
                </a:lnTo>
                <a:close/>
                <a:moveTo>
                  <a:pt x="333375" y="279797"/>
                </a:moveTo>
                <a:lnTo>
                  <a:pt x="339328" y="279797"/>
                </a:lnTo>
                <a:lnTo>
                  <a:pt x="339328" y="315516"/>
                </a:lnTo>
                <a:lnTo>
                  <a:pt x="279797" y="315516"/>
                </a:lnTo>
                <a:lnTo>
                  <a:pt x="279797" y="279797"/>
                </a:lnTo>
                <a:lnTo>
                  <a:pt x="333375" y="279797"/>
                </a:lnTo>
                <a:close/>
                <a:moveTo>
                  <a:pt x="142875" y="279797"/>
                </a:moveTo>
                <a:lnTo>
                  <a:pt x="148828" y="279797"/>
                </a:lnTo>
                <a:lnTo>
                  <a:pt x="148828" y="315516"/>
                </a:lnTo>
                <a:lnTo>
                  <a:pt x="89297" y="315516"/>
                </a:lnTo>
                <a:lnTo>
                  <a:pt x="89297" y="279797"/>
                </a:lnTo>
                <a:lnTo>
                  <a:pt x="142875" y="279797"/>
                </a:lnTo>
                <a:close/>
              </a:path>
            </a:pathLst>
          </a:custGeom>
          <a:solidFill>
            <a:srgbClr val="FFFFFF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168400"/>
            <a:ext cx="6121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48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2387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23876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" y="2438400"/>
            <a:ext cx="3835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Microservices?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320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7" name="Text 5"/>
          <p:cNvSpPr/>
          <p:nvPr/>
        </p:nvSpPr>
        <p:spPr>
          <a:xfrm>
            <a:off x="127000" y="32004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251200"/>
            <a:ext cx="485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ASP.NET Core for Microservices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40132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10" name="Text 8"/>
          <p:cNvSpPr/>
          <p:nvPr/>
        </p:nvSpPr>
        <p:spPr>
          <a:xfrm>
            <a:off x="127000" y="40132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4064000"/>
            <a:ext cx="3835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Communication Patterns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826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13" name="Text 11"/>
          <p:cNvSpPr/>
          <p:nvPr/>
        </p:nvSpPr>
        <p:spPr>
          <a:xfrm>
            <a:off x="127000" y="48260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4876800"/>
            <a:ext cx="3263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Pattern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56388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" y="56388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5689600"/>
            <a:ext cx="441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Management Strategies</a:t>
            </a:r>
            <a:endParaRPr lang="en-US" sz="1600" dirty="0"/>
          </a:p>
        </p:txBody>
      </p:sp>
      <p:pic>
        <p:nvPicPr>
          <p:cNvPr id="18" name="Image 0" descr="https://kimi-img.moonshot.cn/pub/slides/okc/4fftyfrgnfc4k/microservices-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02400" y="596900"/>
            <a:ext cx="6121400" cy="61214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25353" y="2413000"/>
            <a:ext cx="73533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96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825353" y="3733800"/>
            <a:ext cx="73533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4800" dirty="0">
                <a:solidFill>
                  <a:srgbClr val="D1D5D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83002" y="4851400"/>
            <a:ext cx="2438400" cy="50800"/>
          </a:xfrm>
          <a:custGeom>
            <a:avLst/>
            <a:gdLst/>
            <a:ahLst/>
            <a:cxnLst/>
            <a:rect l="l" t="t" r="r" b="b"/>
            <a:pathLst>
              <a:path w="2438400" h="50800">
                <a:moveTo>
                  <a:pt x="0" y="0"/>
                </a:moveTo>
                <a:lnTo>
                  <a:pt x="2438400" y="0"/>
                </a:lnTo>
                <a:lnTo>
                  <a:pt x="24384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2B7FFF"/>
          </a:solidFill>
          <a:ln/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062038"/>
            <a:ext cx="1275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What are Microservices?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20272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BEAFE"/>
          </a:solidFill>
          <a:ln/>
        </p:spPr>
      </p:sp>
      <p:sp>
        <p:nvSpPr>
          <p:cNvPr id="4" name="Shape 2"/>
          <p:cNvSpPr/>
          <p:nvPr/>
        </p:nvSpPr>
        <p:spPr>
          <a:xfrm>
            <a:off x="558800" y="22050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1125" y="0"/>
                </a:moveTo>
                <a:cubicBezTo>
                  <a:pt x="128637" y="0"/>
                  <a:pt x="142875" y="10666"/>
                  <a:pt x="142875" y="23812"/>
                </a:cubicBezTo>
                <a:cubicBezTo>
                  <a:pt x="142875" y="28972"/>
                  <a:pt x="140692" y="33734"/>
                  <a:pt x="136922" y="37654"/>
                </a:cubicBezTo>
                <a:cubicBezTo>
                  <a:pt x="133648" y="41077"/>
                  <a:pt x="130969" y="45244"/>
                  <a:pt x="130969" y="50006"/>
                </a:cubicBezTo>
                <a:cubicBezTo>
                  <a:pt x="130969" y="57448"/>
                  <a:pt x="137021" y="63500"/>
                  <a:pt x="144463" y="63500"/>
                </a:cubicBezTo>
                <a:lnTo>
                  <a:pt x="166688" y="63500"/>
                </a:lnTo>
                <a:cubicBezTo>
                  <a:pt x="179834" y="63500"/>
                  <a:pt x="190500" y="74166"/>
                  <a:pt x="190500" y="87313"/>
                </a:cubicBezTo>
                <a:lnTo>
                  <a:pt x="190500" y="109538"/>
                </a:lnTo>
                <a:cubicBezTo>
                  <a:pt x="190500" y="116979"/>
                  <a:pt x="196552" y="123031"/>
                  <a:pt x="203994" y="123031"/>
                </a:cubicBezTo>
                <a:cubicBezTo>
                  <a:pt x="208707" y="123031"/>
                  <a:pt x="212923" y="120352"/>
                  <a:pt x="216346" y="117078"/>
                </a:cubicBezTo>
                <a:cubicBezTo>
                  <a:pt x="220266" y="113357"/>
                  <a:pt x="225028" y="111125"/>
                  <a:pt x="230188" y="111125"/>
                </a:cubicBezTo>
                <a:cubicBezTo>
                  <a:pt x="243334" y="111125"/>
                  <a:pt x="254000" y="125363"/>
                  <a:pt x="254000" y="142875"/>
                </a:cubicBezTo>
                <a:cubicBezTo>
                  <a:pt x="254000" y="160387"/>
                  <a:pt x="243334" y="174625"/>
                  <a:pt x="230188" y="174625"/>
                </a:cubicBezTo>
                <a:cubicBezTo>
                  <a:pt x="225028" y="174625"/>
                  <a:pt x="220216" y="172442"/>
                  <a:pt x="216346" y="168672"/>
                </a:cubicBezTo>
                <a:cubicBezTo>
                  <a:pt x="212923" y="165398"/>
                  <a:pt x="208756" y="162719"/>
                  <a:pt x="203994" y="162719"/>
                </a:cubicBezTo>
                <a:cubicBezTo>
                  <a:pt x="196552" y="162719"/>
                  <a:pt x="190500" y="168771"/>
                  <a:pt x="190500" y="176213"/>
                </a:cubicBezTo>
                <a:lnTo>
                  <a:pt x="190500" y="230188"/>
                </a:lnTo>
                <a:cubicBezTo>
                  <a:pt x="190500" y="243334"/>
                  <a:pt x="179834" y="254000"/>
                  <a:pt x="166688" y="254000"/>
                </a:cubicBezTo>
                <a:lnTo>
                  <a:pt x="138509" y="254000"/>
                </a:lnTo>
                <a:cubicBezTo>
                  <a:pt x="132159" y="254000"/>
                  <a:pt x="127000" y="248841"/>
                  <a:pt x="127000" y="242491"/>
                </a:cubicBezTo>
                <a:cubicBezTo>
                  <a:pt x="127000" y="237927"/>
                  <a:pt x="129877" y="233908"/>
                  <a:pt x="133548" y="231180"/>
                </a:cubicBezTo>
                <a:cubicBezTo>
                  <a:pt x="139303" y="226864"/>
                  <a:pt x="142875" y="220911"/>
                  <a:pt x="142875" y="214313"/>
                </a:cubicBezTo>
                <a:cubicBezTo>
                  <a:pt x="142875" y="201166"/>
                  <a:pt x="128637" y="190500"/>
                  <a:pt x="111125" y="190500"/>
                </a:cubicBezTo>
                <a:cubicBezTo>
                  <a:pt x="93613" y="190500"/>
                  <a:pt x="79375" y="201166"/>
                  <a:pt x="79375" y="214313"/>
                </a:cubicBezTo>
                <a:cubicBezTo>
                  <a:pt x="79375" y="220911"/>
                  <a:pt x="82947" y="226864"/>
                  <a:pt x="88702" y="231180"/>
                </a:cubicBezTo>
                <a:cubicBezTo>
                  <a:pt x="92373" y="233908"/>
                  <a:pt x="95250" y="237877"/>
                  <a:pt x="95250" y="242491"/>
                </a:cubicBezTo>
                <a:cubicBezTo>
                  <a:pt x="95250" y="248841"/>
                  <a:pt x="90091" y="254000"/>
                  <a:pt x="83741" y="254000"/>
                </a:cubicBezTo>
                <a:lnTo>
                  <a:pt x="23812" y="254000"/>
                </a:lnTo>
                <a:cubicBezTo>
                  <a:pt x="10666" y="254000"/>
                  <a:pt x="0" y="243334"/>
                  <a:pt x="0" y="230188"/>
                </a:cubicBezTo>
                <a:lnTo>
                  <a:pt x="0" y="170259"/>
                </a:lnTo>
                <a:cubicBezTo>
                  <a:pt x="0" y="163909"/>
                  <a:pt x="5159" y="158750"/>
                  <a:pt x="11509" y="158750"/>
                </a:cubicBezTo>
                <a:cubicBezTo>
                  <a:pt x="16073" y="158750"/>
                  <a:pt x="20092" y="161627"/>
                  <a:pt x="22820" y="165298"/>
                </a:cubicBezTo>
                <a:cubicBezTo>
                  <a:pt x="27136" y="171053"/>
                  <a:pt x="33089" y="174625"/>
                  <a:pt x="39688" y="174625"/>
                </a:cubicBezTo>
                <a:cubicBezTo>
                  <a:pt x="52834" y="174625"/>
                  <a:pt x="63500" y="160387"/>
                  <a:pt x="63500" y="142875"/>
                </a:cubicBezTo>
                <a:cubicBezTo>
                  <a:pt x="63500" y="125363"/>
                  <a:pt x="52834" y="111125"/>
                  <a:pt x="39688" y="111125"/>
                </a:cubicBezTo>
                <a:cubicBezTo>
                  <a:pt x="33089" y="111125"/>
                  <a:pt x="27136" y="114697"/>
                  <a:pt x="22820" y="120452"/>
                </a:cubicBezTo>
                <a:cubicBezTo>
                  <a:pt x="20092" y="124123"/>
                  <a:pt x="16123" y="127000"/>
                  <a:pt x="11509" y="127000"/>
                </a:cubicBezTo>
                <a:cubicBezTo>
                  <a:pt x="5159" y="127000"/>
                  <a:pt x="0" y="121841"/>
                  <a:pt x="0" y="115491"/>
                </a:cubicBezTo>
                <a:lnTo>
                  <a:pt x="0" y="87313"/>
                </a:lnTo>
                <a:cubicBezTo>
                  <a:pt x="0" y="74166"/>
                  <a:pt x="10666" y="63500"/>
                  <a:pt x="23812" y="63500"/>
                </a:cubicBezTo>
                <a:lnTo>
                  <a:pt x="77788" y="63500"/>
                </a:lnTo>
                <a:cubicBezTo>
                  <a:pt x="85229" y="63500"/>
                  <a:pt x="91281" y="57448"/>
                  <a:pt x="91281" y="50006"/>
                </a:cubicBezTo>
                <a:cubicBezTo>
                  <a:pt x="91281" y="45293"/>
                  <a:pt x="88602" y="41077"/>
                  <a:pt x="85328" y="37654"/>
                </a:cubicBezTo>
                <a:cubicBezTo>
                  <a:pt x="81607" y="33734"/>
                  <a:pt x="79375" y="28972"/>
                  <a:pt x="79375" y="23813"/>
                </a:cubicBezTo>
                <a:cubicBezTo>
                  <a:pt x="79375" y="10666"/>
                  <a:pt x="93613" y="0"/>
                  <a:pt x="111125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5" name="Text 3"/>
          <p:cNvSpPr/>
          <p:nvPr/>
        </p:nvSpPr>
        <p:spPr>
          <a:xfrm>
            <a:off x="1193800" y="1976438"/>
            <a:ext cx="551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Service Autonomy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3800" y="2382838"/>
            <a:ext cx="500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Independent development, deployment, and scaling of each service.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07200" y="20272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8" name="Shape 6"/>
          <p:cNvSpPr/>
          <p:nvPr/>
        </p:nvSpPr>
        <p:spPr>
          <a:xfrm>
            <a:off x="6985000" y="2205038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0" y="1976438"/>
            <a:ext cx="551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Failure Isolation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0" y="2382838"/>
            <a:ext cx="500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One service failure doesn't cascade to the entire system.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3988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3E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27050" y="3576638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13" name="Text 11"/>
          <p:cNvSpPr/>
          <p:nvPr/>
        </p:nvSpPr>
        <p:spPr>
          <a:xfrm>
            <a:off x="1193800" y="3348038"/>
            <a:ext cx="551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Decentralized Governance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3800" y="3754438"/>
            <a:ext cx="500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diversity and independent decision-making per service.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07200" y="3398838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FED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000875" y="3576638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0" y="3348038"/>
            <a:ext cx="551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Decentralized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0" y="3754438"/>
            <a:ext cx="5003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Each service owns its database and data management strategy.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4821238"/>
            <a:ext cx="122428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81000" y="5138738"/>
            <a:ext cx="12242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856404"/>
                </a:solidFill>
                <a:highlight>
                  <a:srgbClr val="FEF3CD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 Microservices architecture decomposes monolithic applications into small, autonomous services </a:t>
            </a:r>
            <a:r>
              <a:rPr lang="en-US" sz="18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communicate over well-defined APIs. Each service focuses on a specific business capability, enabling faster development cycles, better scalability, and improved fault tolerance.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60400"/>
            <a:ext cx="806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ASP.NET Core for Microservices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72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" y="17272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1676400"/>
            <a:ext cx="6388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Cross-Platform Excellence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2032000"/>
            <a:ext cx="638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Lightweight runtime with exceptional performance characteristics.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1000" y="269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" y="26924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2641600"/>
            <a:ext cx="487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Built-in Dependency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29972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Native support for loose coupling and testability.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1000" y="3657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7000" y="36576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0600" y="3606800"/>
            <a:ext cx="589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Comprehensive Health Checks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3962400"/>
            <a:ext cx="589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Built-in monitoring and orchestrator integration capabilities.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622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16" name="Text 14"/>
          <p:cNvSpPr/>
          <p:nvPr/>
        </p:nvSpPr>
        <p:spPr>
          <a:xfrm>
            <a:off x="127000" y="46228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0600" y="4572000"/>
            <a:ext cx="551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Native Containerization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90600" y="4927600"/>
            <a:ext cx="551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Docker support and cloud-native deployment.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5638800"/>
            <a:ext cx="7556500" cy="1016000"/>
          </a:xfrm>
          <a:custGeom>
            <a:avLst/>
            <a:gdLst/>
            <a:ahLst/>
            <a:cxnLst/>
            <a:rect l="l" t="t" r="r" b="b"/>
            <a:pathLst>
              <a:path w="7556500" h="1016000">
                <a:moveTo>
                  <a:pt x="101600" y="0"/>
                </a:moveTo>
                <a:lnTo>
                  <a:pt x="7454900" y="0"/>
                </a:lnTo>
                <a:cubicBezTo>
                  <a:pt x="7510975" y="0"/>
                  <a:pt x="7556500" y="45525"/>
                  <a:pt x="7556500" y="101600"/>
                </a:cubicBezTo>
                <a:lnTo>
                  <a:pt x="7556500" y="914400"/>
                </a:lnTo>
                <a:cubicBezTo>
                  <a:pt x="7556500" y="970475"/>
                  <a:pt x="7510975" y="1016000"/>
                  <a:pt x="74549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584200" y="5842000"/>
            <a:ext cx="7150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47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Performance:</a:t>
            </a: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Benchmarks show up to </a:t>
            </a:r>
            <a:r>
              <a:rPr lang="en-US" sz="1600" dirty="0">
                <a:solidFill>
                  <a:srgbClr val="856404"/>
                </a:solidFill>
                <a:highlight>
                  <a:srgbClr val="FEF3CD">
                    <a:alpha val="10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 8x faster processing </a:t>
            </a: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than traditional ASP.NET, making it ideal for high-throughput scenarios.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567069" y="2108200"/>
            <a:ext cx="2032000" cy="2032000"/>
          </a:xfrm>
          <a:custGeom>
            <a:avLst/>
            <a:gdLst/>
            <a:ahLst/>
            <a:cxnLst/>
            <a:rect l="l" t="t" r="r" b="b"/>
            <a:pathLst>
              <a:path w="2032000" h="2032000">
                <a:moveTo>
                  <a:pt x="304800" y="0"/>
                </a:moveTo>
                <a:lnTo>
                  <a:pt x="1727200" y="0"/>
                </a:lnTo>
                <a:cubicBezTo>
                  <a:pt x="1895424" y="0"/>
                  <a:pt x="2032000" y="136576"/>
                  <a:pt x="2032000" y="304800"/>
                </a:cubicBezTo>
                <a:lnTo>
                  <a:pt x="2032000" y="1727200"/>
                </a:lnTo>
                <a:cubicBezTo>
                  <a:pt x="2032000" y="1895424"/>
                  <a:pt x="1895424" y="2032000"/>
                  <a:pt x="1727200" y="2032000"/>
                </a:cubicBezTo>
                <a:lnTo>
                  <a:pt x="304800" y="2032000"/>
                </a:lnTo>
                <a:cubicBezTo>
                  <a:pt x="136576" y="2032000"/>
                  <a:pt x="0" y="1895424"/>
                  <a:pt x="0" y="17272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447E6"/>
              </a:gs>
            </a:gsLst>
            <a:lin ang="2700000" scaled="1"/>
          </a:gradFill>
          <a:ln/>
          <a:effectLst>
            <a:outerShdw blurRad="317500" dist="2540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83019" y="2667000"/>
            <a:ext cx="800100" cy="914400"/>
          </a:xfrm>
          <a:custGeom>
            <a:avLst/>
            <a:gdLst/>
            <a:ahLst/>
            <a:cxnLst/>
            <a:rect l="l" t="t" r="r" b="b"/>
            <a:pathLst>
              <a:path w="800100" h="914400">
                <a:moveTo>
                  <a:pt x="0" y="57150"/>
                </a:moveTo>
                <a:lnTo>
                  <a:pt x="383262" y="57150"/>
                </a:lnTo>
                <a:lnTo>
                  <a:pt x="383262" y="440412"/>
                </a:lnTo>
                <a:lnTo>
                  <a:pt x="0" y="440412"/>
                </a:lnTo>
                <a:lnTo>
                  <a:pt x="0" y="57150"/>
                </a:lnTo>
                <a:close/>
                <a:moveTo>
                  <a:pt x="416838" y="57150"/>
                </a:moveTo>
                <a:lnTo>
                  <a:pt x="800100" y="57150"/>
                </a:lnTo>
                <a:lnTo>
                  <a:pt x="800100" y="440412"/>
                </a:lnTo>
                <a:lnTo>
                  <a:pt x="416838" y="440412"/>
                </a:lnTo>
                <a:lnTo>
                  <a:pt x="416838" y="57150"/>
                </a:lnTo>
                <a:close/>
                <a:moveTo>
                  <a:pt x="0" y="473988"/>
                </a:moveTo>
                <a:lnTo>
                  <a:pt x="383262" y="473988"/>
                </a:lnTo>
                <a:lnTo>
                  <a:pt x="383262" y="857250"/>
                </a:lnTo>
                <a:lnTo>
                  <a:pt x="0" y="857250"/>
                </a:lnTo>
                <a:lnTo>
                  <a:pt x="0" y="473988"/>
                </a:lnTo>
                <a:close/>
                <a:moveTo>
                  <a:pt x="416838" y="473988"/>
                </a:moveTo>
                <a:lnTo>
                  <a:pt x="800100" y="473988"/>
                </a:lnTo>
                <a:lnTo>
                  <a:pt x="800100" y="857250"/>
                </a:lnTo>
                <a:lnTo>
                  <a:pt x="416838" y="857250"/>
                </a:lnTo>
                <a:lnTo>
                  <a:pt x="416838" y="4739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321006" y="4445000"/>
            <a:ext cx="2527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.NET Core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1006" y="485140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Modern Foundation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" y="1168400"/>
            <a:ext cx="1275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Communication Patterns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2082800"/>
            <a:ext cx="3810000" cy="4064000"/>
          </a:xfrm>
          <a:custGeom>
            <a:avLst/>
            <a:gdLst/>
            <a:ahLst/>
            <a:cxnLst/>
            <a:rect l="l" t="t" r="r" b="b"/>
            <a:pathLst>
              <a:path w="3810000" h="4064000">
                <a:moveTo>
                  <a:pt x="152400" y="0"/>
                </a:moveTo>
                <a:lnTo>
                  <a:pt x="3657600" y="0"/>
                </a:lnTo>
                <a:cubicBezTo>
                  <a:pt x="3741712" y="0"/>
                  <a:pt x="3810000" y="68288"/>
                  <a:pt x="3810000" y="152400"/>
                </a:cubicBezTo>
                <a:lnTo>
                  <a:pt x="3810000" y="3911600"/>
                </a:lnTo>
                <a:cubicBezTo>
                  <a:pt x="3810000" y="3995712"/>
                  <a:pt x="3741712" y="4064000"/>
                  <a:pt x="3657600" y="4064000"/>
                </a:cubicBezTo>
                <a:lnTo>
                  <a:pt x="152400" y="4064000"/>
                </a:lnTo>
                <a:cubicBezTo>
                  <a:pt x="68288" y="4064000"/>
                  <a:pt x="0" y="3995712"/>
                  <a:pt x="0" y="391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DBEAFE"/>
              </a:gs>
            </a:gsLst>
            <a:lin ang="27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8796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5" name="Shape 3"/>
          <p:cNvSpPr/>
          <p:nvPr/>
        </p:nvSpPr>
        <p:spPr>
          <a:xfrm>
            <a:off x="2133600" y="264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810" y="114300"/>
                </a:moveTo>
                <a:lnTo>
                  <a:pt x="290513" y="114300"/>
                </a:lnTo>
                <a:cubicBezTo>
                  <a:pt x="298430" y="114300"/>
                  <a:pt x="304800" y="107930"/>
                  <a:pt x="304800" y="100013"/>
                </a:cubicBezTo>
                <a:lnTo>
                  <a:pt x="304800" y="14288"/>
                </a:lnTo>
                <a:cubicBezTo>
                  <a:pt x="304800" y="8513"/>
                  <a:pt x="301347" y="3274"/>
                  <a:pt x="295989" y="1072"/>
                </a:cubicBezTo>
                <a:cubicBezTo>
                  <a:pt x="290632" y="-1131"/>
                  <a:pt x="284500" y="119"/>
                  <a:pt x="280392" y="4167"/>
                </a:cubicBezTo>
                <a:lnTo>
                  <a:pt x="249615" y="35004"/>
                </a:lnTo>
                <a:cubicBezTo>
                  <a:pt x="223242" y="13156"/>
                  <a:pt x="189309" y="0"/>
                  <a:pt x="152400" y="0"/>
                </a:cubicBezTo>
                <a:cubicBezTo>
                  <a:pt x="75605" y="0"/>
                  <a:pt x="12085" y="56793"/>
                  <a:pt x="1548" y="130671"/>
                </a:cubicBezTo>
                <a:cubicBezTo>
                  <a:pt x="60" y="141089"/>
                  <a:pt x="7263" y="150733"/>
                  <a:pt x="17681" y="152221"/>
                </a:cubicBezTo>
                <a:cubicBezTo>
                  <a:pt x="28099" y="153710"/>
                  <a:pt x="37743" y="146447"/>
                  <a:pt x="39231" y="136088"/>
                </a:cubicBezTo>
                <a:cubicBezTo>
                  <a:pt x="47149" y="80665"/>
                  <a:pt x="94833" y="38100"/>
                  <a:pt x="152400" y="38100"/>
                </a:cubicBezTo>
                <a:cubicBezTo>
                  <a:pt x="178832" y="38100"/>
                  <a:pt x="203121" y="47030"/>
                  <a:pt x="222468" y="62091"/>
                </a:cubicBezTo>
                <a:lnTo>
                  <a:pt x="194667" y="89892"/>
                </a:lnTo>
                <a:cubicBezTo>
                  <a:pt x="190560" y="94000"/>
                  <a:pt x="189369" y="100132"/>
                  <a:pt x="191572" y="105489"/>
                </a:cubicBezTo>
                <a:cubicBezTo>
                  <a:pt x="193774" y="110847"/>
                  <a:pt x="199013" y="114300"/>
                  <a:pt x="204787" y="114300"/>
                </a:cubicBezTo>
                <a:lnTo>
                  <a:pt x="285810" y="114300"/>
                </a:lnTo>
                <a:close/>
                <a:moveTo>
                  <a:pt x="303312" y="174129"/>
                </a:moveTo>
                <a:cubicBezTo>
                  <a:pt x="304800" y="163711"/>
                  <a:pt x="297537" y="154067"/>
                  <a:pt x="287179" y="152579"/>
                </a:cubicBezTo>
                <a:cubicBezTo>
                  <a:pt x="276820" y="151090"/>
                  <a:pt x="267117" y="158353"/>
                  <a:pt x="265628" y="168712"/>
                </a:cubicBezTo>
                <a:cubicBezTo>
                  <a:pt x="257711" y="224076"/>
                  <a:pt x="210026" y="266640"/>
                  <a:pt x="152460" y="266640"/>
                </a:cubicBezTo>
                <a:cubicBezTo>
                  <a:pt x="126028" y="266640"/>
                  <a:pt x="101739" y="257711"/>
                  <a:pt x="82391" y="242649"/>
                </a:cubicBezTo>
                <a:lnTo>
                  <a:pt x="110133" y="214908"/>
                </a:lnTo>
                <a:cubicBezTo>
                  <a:pt x="114240" y="210800"/>
                  <a:pt x="115431" y="204668"/>
                  <a:pt x="113228" y="199311"/>
                </a:cubicBezTo>
                <a:cubicBezTo>
                  <a:pt x="111026" y="193953"/>
                  <a:pt x="105787" y="190500"/>
                  <a:pt x="100013" y="190500"/>
                </a:cubicBezTo>
                <a:lnTo>
                  <a:pt x="14288" y="190500"/>
                </a:lnTo>
                <a:cubicBezTo>
                  <a:pt x="6370" y="190500"/>
                  <a:pt x="0" y="196870"/>
                  <a:pt x="0" y="204787"/>
                </a:cubicBezTo>
                <a:lnTo>
                  <a:pt x="0" y="290513"/>
                </a:lnTo>
                <a:cubicBezTo>
                  <a:pt x="0" y="296287"/>
                  <a:pt x="3453" y="301526"/>
                  <a:pt x="8811" y="303728"/>
                </a:cubicBezTo>
                <a:cubicBezTo>
                  <a:pt x="14168" y="305931"/>
                  <a:pt x="20300" y="304681"/>
                  <a:pt x="24408" y="300633"/>
                </a:cubicBezTo>
                <a:lnTo>
                  <a:pt x="55245" y="269796"/>
                </a:lnTo>
                <a:cubicBezTo>
                  <a:pt x="81558" y="291644"/>
                  <a:pt x="115491" y="304800"/>
                  <a:pt x="152400" y="304800"/>
                </a:cubicBezTo>
                <a:cubicBezTo>
                  <a:pt x="229195" y="304800"/>
                  <a:pt x="292715" y="248007"/>
                  <a:pt x="303252" y="1741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31800" y="3352800"/>
            <a:ext cx="370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Synchronous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962400"/>
            <a:ext cx="3200400" cy="86360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38200" y="41148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REST APIs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200" y="44196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HTTP/JSON simplicity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4978400"/>
            <a:ext cx="3200400" cy="86360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8200" y="51308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gRPC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54356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High-performance binary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97400" y="2082800"/>
            <a:ext cx="3810000" cy="4064000"/>
          </a:xfrm>
          <a:custGeom>
            <a:avLst/>
            <a:gdLst/>
            <a:ahLst/>
            <a:cxnLst/>
            <a:rect l="l" t="t" r="r" b="b"/>
            <a:pathLst>
              <a:path w="3810000" h="4064000">
                <a:moveTo>
                  <a:pt x="152400" y="0"/>
                </a:moveTo>
                <a:lnTo>
                  <a:pt x="3657600" y="0"/>
                </a:lnTo>
                <a:cubicBezTo>
                  <a:pt x="3741712" y="0"/>
                  <a:pt x="3810000" y="68288"/>
                  <a:pt x="3810000" y="152400"/>
                </a:cubicBezTo>
                <a:lnTo>
                  <a:pt x="3810000" y="3911600"/>
                </a:lnTo>
                <a:cubicBezTo>
                  <a:pt x="3810000" y="3995712"/>
                  <a:pt x="3741712" y="4064000"/>
                  <a:pt x="3657600" y="4064000"/>
                </a:cubicBezTo>
                <a:lnTo>
                  <a:pt x="152400" y="4064000"/>
                </a:lnTo>
                <a:cubicBezTo>
                  <a:pt x="68288" y="4064000"/>
                  <a:pt x="0" y="3995712"/>
                  <a:pt x="0" y="391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DCFCE7"/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60960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00A63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0000" y="2641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575" y="38100"/>
                </a:moveTo>
                <a:cubicBezTo>
                  <a:pt x="12799" y="38100"/>
                  <a:pt x="0" y="50899"/>
                  <a:pt x="0" y="66675"/>
                </a:cubicBezTo>
                <a:cubicBezTo>
                  <a:pt x="0" y="75664"/>
                  <a:pt x="4227" y="84118"/>
                  <a:pt x="11430" y="89535"/>
                </a:cubicBezTo>
                <a:lnTo>
                  <a:pt x="135255" y="182404"/>
                </a:lnTo>
                <a:cubicBezTo>
                  <a:pt x="145435" y="190024"/>
                  <a:pt x="159365" y="190024"/>
                  <a:pt x="169545" y="182404"/>
                </a:cubicBezTo>
                <a:lnTo>
                  <a:pt x="293370" y="89535"/>
                </a:lnTo>
                <a:cubicBezTo>
                  <a:pt x="300573" y="84118"/>
                  <a:pt x="304800" y="75664"/>
                  <a:pt x="304800" y="66675"/>
                </a:cubicBezTo>
                <a:cubicBezTo>
                  <a:pt x="304800" y="50899"/>
                  <a:pt x="292001" y="38100"/>
                  <a:pt x="276225" y="38100"/>
                </a:cubicBezTo>
                <a:lnTo>
                  <a:pt x="28575" y="38100"/>
                </a:lnTo>
                <a:close/>
                <a:moveTo>
                  <a:pt x="0" y="116681"/>
                </a:moveTo>
                <a:lnTo>
                  <a:pt x="0" y="228600"/>
                </a:lnTo>
                <a:cubicBezTo>
                  <a:pt x="0" y="249615"/>
                  <a:pt x="17085" y="266700"/>
                  <a:pt x="38100" y="266700"/>
                </a:cubicBezTo>
                <a:lnTo>
                  <a:pt x="266700" y="266700"/>
                </a:lnTo>
                <a:cubicBezTo>
                  <a:pt x="287715" y="266700"/>
                  <a:pt x="304800" y="249615"/>
                  <a:pt x="304800" y="228600"/>
                </a:cubicBezTo>
                <a:lnTo>
                  <a:pt x="304800" y="116681"/>
                </a:lnTo>
                <a:lnTo>
                  <a:pt x="186690" y="205264"/>
                </a:lnTo>
                <a:cubicBezTo>
                  <a:pt x="166390" y="220504"/>
                  <a:pt x="138410" y="220504"/>
                  <a:pt x="118110" y="205264"/>
                </a:cubicBezTo>
                <a:lnTo>
                  <a:pt x="0" y="1166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48200" y="3352800"/>
            <a:ext cx="370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Asynchronous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02200" y="3962400"/>
            <a:ext cx="3200400" cy="86360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54600" y="41148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Message Queues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54600" y="44196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RabbitMQ, Azure SB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902200" y="4978400"/>
            <a:ext cx="3200400" cy="86360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54600" y="51308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Kafka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54600" y="54356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streaming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13800" y="2082800"/>
            <a:ext cx="3810000" cy="4064000"/>
          </a:xfrm>
          <a:custGeom>
            <a:avLst/>
            <a:gdLst/>
            <a:ahLst/>
            <a:cxnLst/>
            <a:rect l="l" t="t" r="r" b="b"/>
            <a:pathLst>
              <a:path w="3810000" h="4064000">
                <a:moveTo>
                  <a:pt x="152400" y="0"/>
                </a:moveTo>
                <a:lnTo>
                  <a:pt x="3657600" y="0"/>
                </a:lnTo>
                <a:cubicBezTo>
                  <a:pt x="3741712" y="0"/>
                  <a:pt x="3810000" y="68288"/>
                  <a:pt x="3810000" y="152400"/>
                </a:cubicBezTo>
                <a:lnTo>
                  <a:pt x="3810000" y="3911600"/>
                </a:lnTo>
                <a:cubicBezTo>
                  <a:pt x="3810000" y="3995712"/>
                  <a:pt x="3741712" y="4064000"/>
                  <a:pt x="3657600" y="4064000"/>
                </a:cubicBezTo>
                <a:lnTo>
                  <a:pt x="152400" y="4064000"/>
                </a:lnTo>
                <a:cubicBezTo>
                  <a:pt x="68288" y="4064000"/>
                  <a:pt x="0" y="3995712"/>
                  <a:pt x="0" y="391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F3E8FF"/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1031240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85450" y="2641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864600" y="3352800"/>
            <a:ext cx="3708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Event-Driven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18600" y="3962400"/>
            <a:ext cx="3200400" cy="86360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71000" y="41148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Event Sourcing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71000" y="44196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 event log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18600" y="4978400"/>
            <a:ext cx="3200400" cy="863600"/>
          </a:xfrm>
          <a:custGeom>
            <a:avLst/>
            <a:gdLst/>
            <a:ahLst/>
            <a:cxnLst/>
            <a:rect l="l" t="t" r="r" b="b"/>
            <a:pathLst>
              <a:path w="3200400" h="863600">
                <a:moveTo>
                  <a:pt x="101603" y="0"/>
                </a:moveTo>
                <a:lnTo>
                  <a:pt x="3098797" y="0"/>
                </a:lnTo>
                <a:cubicBezTo>
                  <a:pt x="3154911" y="0"/>
                  <a:pt x="3200400" y="45489"/>
                  <a:pt x="3200400" y="101603"/>
                </a:cubicBezTo>
                <a:lnTo>
                  <a:pt x="3200400" y="761997"/>
                </a:lnTo>
                <a:cubicBezTo>
                  <a:pt x="3200400" y="818111"/>
                  <a:pt x="3154911" y="863600"/>
                  <a:pt x="3098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38100" dist="1270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71000" y="5130800"/>
            <a:ext cx="3403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CQRS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71000" y="5435600"/>
            <a:ext cx="340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Command/Query separation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4fftyfrgnfc4k/api-gateway-patter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1000" y="800100"/>
            <a:ext cx="5715000" cy="5715000"/>
          </a:xfrm>
          <a:prstGeom prst="roundRect">
            <a:avLst>
              <a:gd name="adj" fmla="val 0"/>
            </a:avLst>
          </a:prstGeom>
        </p:spPr>
      </p:pic>
      <p:sp>
        <p:nvSpPr>
          <p:cNvPr id="3" name="Text 0"/>
          <p:cNvSpPr/>
          <p:nvPr/>
        </p:nvSpPr>
        <p:spPr>
          <a:xfrm>
            <a:off x="6908800" y="9398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36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API Gateway Pattern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9088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5" name="Text 2"/>
          <p:cNvSpPr/>
          <p:nvPr/>
        </p:nvSpPr>
        <p:spPr>
          <a:xfrm>
            <a:off x="6654800" y="19050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18400" y="1854200"/>
            <a:ext cx="365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Entry Point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18400" y="2209800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Centralized access for all client requests.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908800" y="276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9" name="Text 6"/>
          <p:cNvSpPr/>
          <p:nvPr/>
        </p:nvSpPr>
        <p:spPr>
          <a:xfrm>
            <a:off x="6654800" y="27686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18400" y="2717800"/>
            <a:ext cx="403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Cross-Cutting Concerns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18400" y="3073400"/>
            <a:ext cx="403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Authentication, rate limiting, and monitoring.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908800" y="3632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13" name="Text 10"/>
          <p:cNvSpPr/>
          <p:nvPr/>
        </p:nvSpPr>
        <p:spPr>
          <a:xfrm>
            <a:off x="6654800" y="36322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18400" y="35814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 Aggregation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18400" y="3937000"/>
            <a:ext cx="406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Combine multiple service responses into one.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908800" y="44958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4F39F6"/>
          </a:solidFill>
          <a:ln/>
        </p:spPr>
      </p:sp>
      <p:sp>
        <p:nvSpPr>
          <p:cNvPr id="17" name="Text 14"/>
          <p:cNvSpPr/>
          <p:nvPr/>
        </p:nvSpPr>
        <p:spPr>
          <a:xfrm>
            <a:off x="6654800" y="4495800"/>
            <a:ext cx="914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518400" y="4445000"/>
            <a:ext cx="478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E293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for Frontend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518400" y="4800600"/>
            <a:ext cx="478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Dedicated gateways for mobile, web, and other clients.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908800" y="5461000"/>
            <a:ext cx="5715000" cy="914400"/>
          </a:xfrm>
          <a:custGeom>
            <a:avLst/>
            <a:gdLst/>
            <a:ahLst/>
            <a:cxnLst/>
            <a:rect l="l" t="t" r="r" b="b"/>
            <a:pathLst>
              <a:path w="5715000" h="914400">
                <a:moveTo>
                  <a:pt x="101599" y="0"/>
                </a:moveTo>
                <a:lnTo>
                  <a:pt x="5613401" y="0"/>
                </a:lnTo>
                <a:cubicBezTo>
                  <a:pt x="5669513" y="0"/>
                  <a:pt x="5715000" y="45487"/>
                  <a:pt x="5715000" y="101599"/>
                </a:cubicBezTo>
                <a:lnTo>
                  <a:pt x="5715000" y="812801"/>
                </a:lnTo>
                <a:cubicBezTo>
                  <a:pt x="5715000" y="868913"/>
                  <a:pt x="5669513" y="914400"/>
                  <a:pt x="56134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EEF2FF"/>
          </a:solidFill>
          <a:ln/>
        </p:spPr>
      </p:sp>
      <p:sp>
        <p:nvSpPr>
          <p:cNvPr id="21" name="Text 18"/>
          <p:cNvSpPr/>
          <p:nvPr/>
        </p:nvSpPr>
        <p:spPr>
          <a:xfrm>
            <a:off x="7112000" y="5664200"/>
            <a:ext cx="530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32DD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Ocelot:</a:t>
            </a:r>
            <a:r>
              <a:rPr lang="en-US" sz="14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 lightweight .NET library providing API Gateway functionality with dynamic routing, load balancing, and caching.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" y="508000"/>
            <a:ext cx="1275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 Management Strategies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22400"/>
            <a:ext cx="5918200" cy="2540000"/>
          </a:xfrm>
          <a:custGeom>
            <a:avLst/>
            <a:gdLst/>
            <a:ahLst/>
            <a:cxnLst/>
            <a:rect l="l" t="t" r="r" b="b"/>
            <a:pathLst>
              <a:path w="5918200" h="2540000">
                <a:moveTo>
                  <a:pt x="152400" y="0"/>
                </a:moveTo>
                <a:lnTo>
                  <a:pt x="5765800" y="0"/>
                </a:lnTo>
                <a:cubicBezTo>
                  <a:pt x="5849912" y="0"/>
                  <a:pt x="5918200" y="68288"/>
                  <a:pt x="5918200" y="152400"/>
                </a:cubicBezTo>
                <a:lnTo>
                  <a:pt x="5918200" y="2387600"/>
                </a:lnTo>
                <a:cubicBezTo>
                  <a:pt x="5918200" y="2471712"/>
                  <a:pt x="5849912" y="2540000"/>
                  <a:pt x="57658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A"/>
              </a:gs>
              <a:gs pos="100000">
                <a:srgbClr val="CBFBF1"/>
              </a:gs>
            </a:gsLst>
            <a:lin ang="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685800" y="172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009689"/>
          </a:solidFill>
          <a:ln/>
        </p:spPr>
      </p:sp>
      <p:sp>
        <p:nvSpPr>
          <p:cNvPr id="5" name="Shape 3"/>
          <p:cNvSpPr/>
          <p:nvPr/>
        </p:nvSpPr>
        <p:spPr>
          <a:xfrm>
            <a:off x="879475" y="19050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498600" y="18288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Database-per-Service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40000"/>
            <a:ext cx="5308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data autonomy and loose coupling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Polyglot persistence (SQL, NoSQL)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Independent scaling and optimization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4267200"/>
            <a:ext cx="5918200" cy="2540000"/>
          </a:xfrm>
          <a:custGeom>
            <a:avLst/>
            <a:gdLst/>
            <a:ahLst/>
            <a:cxnLst/>
            <a:rect l="l" t="t" r="r" b="b"/>
            <a:pathLst>
              <a:path w="5918200" h="2540000">
                <a:moveTo>
                  <a:pt x="152400" y="0"/>
                </a:moveTo>
                <a:lnTo>
                  <a:pt x="5765800" y="0"/>
                </a:lnTo>
                <a:cubicBezTo>
                  <a:pt x="5849912" y="0"/>
                  <a:pt x="5918200" y="68288"/>
                  <a:pt x="5918200" y="152400"/>
                </a:cubicBezTo>
                <a:lnTo>
                  <a:pt x="5918200" y="2387600"/>
                </a:lnTo>
                <a:cubicBezTo>
                  <a:pt x="5918200" y="2471712"/>
                  <a:pt x="5849912" y="2540000"/>
                  <a:pt x="57658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FFEDD4"/>
              </a:gs>
            </a:gsLst>
            <a:lin ang="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685800" y="457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F54900"/>
          </a:solidFill>
          <a:ln/>
        </p:spPr>
      </p:sp>
      <p:sp>
        <p:nvSpPr>
          <p:cNvPr id="10" name="Shape 8"/>
          <p:cNvSpPr/>
          <p:nvPr/>
        </p:nvSpPr>
        <p:spPr>
          <a:xfrm>
            <a:off x="863600" y="4749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98600" y="4673600"/>
            <a:ext cx="2070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Saga Pattern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5384800"/>
            <a:ext cx="5308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Manages distributed transactions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Choreography vs Orchestration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Ensures eventual consistency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05600" y="1422400"/>
            <a:ext cx="5918200" cy="2540000"/>
          </a:xfrm>
          <a:custGeom>
            <a:avLst/>
            <a:gdLst/>
            <a:ahLst/>
            <a:cxnLst/>
            <a:rect l="l" t="t" r="r" b="b"/>
            <a:pathLst>
              <a:path w="5918200" h="2540000">
                <a:moveTo>
                  <a:pt x="152400" y="0"/>
                </a:moveTo>
                <a:lnTo>
                  <a:pt x="5765800" y="0"/>
                </a:lnTo>
                <a:cubicBezTo>
                  <a:pt x="5849912" y="0"/>
                  <a:pt x="5918200" y="68288"/>
                  <a:pt x="5918200" y="152400"/>
                </a:cubicBezTo>
                <a:lnTo>
                  <a:pt x="5918200" y="2387600"/>
                </a:lnTo>
                <a:cubicBezTo>
                  <a:pt x="5918200" y="2471712"/>
                  <a:pt x="5849912" y="2540000"/>
                  <a:pt x="57658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F3E8FF"/>
              </a:gs>
            </a:gsLst>
            <a:lin ang="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7010400" y="1727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9810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188200" y="1905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823200" y="1828800"/>
            <a:ext cx="1130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CQRS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10400" y="2540000"/>
            <a:ext cx="5308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Command Query Responsibility Segregation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Optimized read/write operations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Separate data stores for scaling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05600" y="4267200"/>
            <a:ext cx="5918200" cy="2540000"/>
          </a:xfrm>
          <a:custGeom>
            <a:avLst/>
            <a:gdLst/>
            <a:ahLst/>
            <a:cxnLst/>
            <a:rect l="l" t="t" r="r" b="b"/>
            <a:pathLst>
              <a:path w="5918200" h="2540000">
                <a:moveTo>
                  <a:pt x="152400" y="0"/>
                </a:moveTo>
                <a:lnTo>
                  <a:pt x="5765800" y="0"/>
                </a:lnTo>
                <a:cubicBezTo>
                  <a:pt x="5849912" y="0"/>
                  <a:pt x="5918200" y="68288"/>
                  <a:pt x="5918200" y="152400"/>
                </a:cubicBezTo>
                <a:lnTo>
                  <a:pt x="5918200" y="2387600"/>
                </a:lnTo>
                <a:cubicBezTo>
                  <a:pt x="5918200" y="2471712"/>
                  <a:pt x="5849912" y="2540000"/>
                  <a:pt x="57658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DBEAFE"/>
              </a:gs>
            </a:gsLst>
            <a:lin ang="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7010400" y="457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55DFC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2325" y="4749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42875" y="31750"/>
                </a:moveTo>
                <a:cubicBezTo>
                  <a:pt x="195461" y="31750"/>
                  <a:pt x="238125" y="74414"/>
                  <a:pt x="238125" y="127000"/>
                </a:cubicBezTo>
                <a:cubicBezTo>
                  <a:pt x="238125" y="179586"/>
                  <a:pt x="195461" y="222250"/>
                  <a:pt x="142875" y="222250"/>
                </a:cubicBezTo>
                <a:cubicBezTo>
                  <a:pt x="110530" y="222250"/>
                  <a:pt x="81905" y="206127"/>
                  <a:pt x="64691" y="181421"/>
                </a:cubicBezTo>
                <a:cubicBezTo>
                  <a:pt x="59680" y="174228"/>
                  <a:pt x="49758" y="172492"/>
                  <a:pt x="42565" y="177502"/>
                </a:cubicBezTo>
                <a:cubicBezTo>
                  <a:pt x="35371" y="182513"/>
                  <a:pt x="33635" y="192435"/>
                  <a:pt x="38646" y="199628"/>
                </a:cubicBezTo>
                <a:cubicBezTo>
                  <a:pt x="61565" y="232470"/>
                  <a:pt x="99715" y="254000"/>
                  <a:pt x="142875" y="254000"/>
                </a:cubicBezTo>
                <a:cubicBezTo>
                  <a:pt x="213023" y="254000"/>
                  <a:pt x="269875" y="197148"/>
                  <a:pt x="269875" y="127000"/>
                </a:cubicBezTo>
                <a:cubicBezTo>
                  <a:pt x="269875" y="56852"/>
                  <a:pt x="213023" y="0"/>
                  <a:pt x="142875" y="0"/>
                </a:cubicBezTo>
                <a:cubicBezTo>
                  <a:pt x="100360" y="0"/>
                  <a:pt x="62756" y="20886"/>
                  <a:pt x="39688" y="52933"/>
                </a:cubicBezTo>
                <a:lnTo>
                  <a:pt x="39688" y="39688"/>
                </a:lnTo>
                <a:cubicBezTo>
                  <a:pt x="39688" y="30907"/>
                  <a:pt x="32593" y="23812"/>
                  <a:pt x="23812" y="23812"/>
                </a:cubicBezTo>
                <a:cubicBezTo>
                  <a:pt x="15032" y="23812"/>
                  <a:pt x="7938" y="30907"/>
                  <a:pt x="7938" y="39688"/>
                </a:cubicBezTo>
                <a:lnTo>
                  <a:pt x="7938" y="95250"/>
                </a:lnTo>
                <a:cubicBezTo>
                  <a:pt x="7938" y="104031"/>
                  <a:pt x="15032" y="111125"/>
                  <a:pt x="23812" y="111125"/>
                </a:cubicBezTo>
                <a:lnTo>
                  <a:pt x="36016" y="111125"/>
                </a:lnTo>
                <a:cubicBezTo>
                  <a:pt x="36264" y="111125"/>
                  <a:pt x="36513" y="111125"/>
                  <a:pt x="36761" y="111125"/>
                </a:cubicBezTo>
                <a:lnTo>
                  <a:pt x="79425" y="111125"/>
                </a:lnTo>
                <a:cubicBezTo>
                  <a:pt x="88205" y="111125"/>
                  <a:pt x="95300" y="104031"/>
                  <a:pt x="95300" y="95250"/>
                </a:cubicBezTo>
                <a:cubicBezTo>
                  <a:pt x="95300" y="86469"/>
                  <a:pt x="88205" y="79375"/>
                  <a:pt x="79425" y="79375"/>
                </a:cubicBezTo>
                <a:lnTo>
                  <a:pt x="60424" y="79375"/>
                </a:lnTo>
                <a:cubicBezTo>
                  <a:pt x="76845" y="50899"/>
                  <a:pt x="107652" y="31750"/>
                  <a:pt x="142875" y="31750"/>
                </a:cubicBezTo>
                <a:close/>
                <a:moveTo>
                  <a:pt x="154781" y="75406"/>
                </a:moveTo>
                <a:cubicBezTo>
                  <a:pt x="154781" y="68808"/>
                  <a:pt x="149473" y="63500"/>
                  <a:pt x="142875" y="63500"/>
                </a:cubicBezTo>
                <a:cubicBezTo>
                  <a:pt x="136277" y="63500"/>
                  <a:pt x="130969" y="68808"/>
                  <a:pt x="130969" y="75406"/>
                </a:cubicBezTo>
                <a:lnTo>
                  <a:pt x="130969" y="127000"/>
                </a:lnTo>
                <a:cubicBezTo>
                  <a:pt x="130969" y="130175"/>
                  <a:pt x="132209" y="133201"/>
                  <a:pt x="134441" y="135434"/>
                </a:cubicBezTo>
                <a:lnTo>
                  <a:pt x="170160" y="171152"/>
                </a:lnTo>
                <a:cubicBezTo>
                  <a:pt x="174823" y="175816"/>
                  <a:pt x="182364" y="175816"/>
                  <a:pt x="186978" y="171152"/>
                </a:cubicBezTo>
                <a:cubicBezTo>
                  <a:pt x="191591" y="166489"/>
                  <a:pt x="191641" y="158948"/>
                  <a:pt x="186978" y="154335"/>
                </a:cubicBezTo>
                <a:lnTo>
                  <a:pt x="154732" y="122089"/>
                </a:lnTo>
                <a:lnTo>
                  <a:pt x="154732" y="7540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823200" y="4673600"/>
            <a:ext cx="2336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1E2939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Event Sourcing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10400" y="5384800"/>
            <a:ext cx="5308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audit trail of all changes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 event store</a:t>
            </a:r>
            <a:endParaRPr lang="en-US" sz="1600" dirty="0"/>
          </a:p>
          <a:p>
            <a:pPr marL="254000" indent="-254000">
              <a:lnSpc>
                <a:spcPct val="130000"/>
              </a:lnSpc>
              <a:spcBef>
                <a:spcPts val="10"/>
              </a:spcBef>
              <a:buSzPct val="100000"/>
              <a:buChar char="•"/>
            </a:pPr>
            <a:r>
              <a:rPr lang="en-US" sz="1600" dirty="0">
                <a:solidFill>
                  <a:srgbClr val="36415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Enables temporal queries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9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004800" cy="7315200"/>
          </a:xfrm>
          <a:custGeom>
            <a:avLst/>
            <a:gdLst/>
            <a:ahLst/>
            <a:cxnLst/>
            <a:rect l="l" t="t" r="r" b="b"/>
            <a:pathLst>
              <a:path w="13004800" h="7315200">
                <a:moveTo>
                  <a:pt x="0" y="0"/>
                </a:moveTo>
                <a:lnTo>
                  <a:pt x="13004800" y="0"/>
                </a:lnTo>
                <a:lnTo>
                  <a:pt x="130048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980"/>
              </a:gs>
              <a:gs pos="100000">
                <a:srgbClr val="26D0CE"/>
              </a:gs>
            </a:gsLst>
            <a:lin ang="27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558800" y="425450"/>
            <a:ext cx="11887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6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The Future is Distributed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12800" y="1492250"/>
            <a:ext cx="113792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Microservices with ASP.NET Core represent the future of scalable application development, combining the power of distributed architecture with modern .NET capabilities. 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3587750"/>
            <a:ext cx="3517900" cy="2336800"/>
          </a:xfrm>
          <a:custGeom>
            <a:avLst/>
            <a:gdLst/>
            <a:ahLst/>
            <a:cxnLst/>
            <a:rect l="l" t="t" r="r" b="b"/>
            <a:pathLst>
              <a:path w="3517900" h="2336800">
                <a:moveTo>
                  <a:pt x="152406" y="0"/>
                </a:moveTo>
                <a:lnTo>
                  <a:pt x="3365494" y="0"/>
                </a:lnTo>
                <a:cubicBezTo>
                  <a:pt x="3449665" y="0"/>
                  <a:pt x="3517900" y="68235"/>
                  <a:pt x="3517900" y="152406"/>
                </a:cubicBezTo>
                <a:lnTo>
                  <a:pt x="3517900" y="2184394"/>
                </a:lnTo>
                <a:cubicBezTo>
                  <a:pt x="3517900" y="2268565"/>
                  <a:pt x="3449665" y="2336800"/>
                  <a:pt x="33654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167334" y="38925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386409" y="4108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63600" y="490855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536575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Independent scaling of services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41267" y="3587750"/>
            <a:ext cx="3517900" cy="2336800"/>
          </a:xfrm>
          <a:custGeom>
            <a:avLst/>
            <a:gdLst/>
            <a:ahLst/>
            <a:cxnLst/>
            <a:rect l="l" t="t" r="r" b="b"/>
            <a:pathLst>
              <a:path w="3517900" h="2336800">
                <a:moveTo>
                  <a:pt x="152406" y="0"/>
                </a:moveTo>
                <a:lnTo>
                  <a:pt x="3365494" y="0"/>
                </a:lnTo>
                <a:cubicBezTo>
                  <a:pt x="3449665" y="0"/>
                  <a:pt x="3517900" y="68235"/>
                  <a:pt x="3517900" y="152406"/>
                </a:cubicBezTo>
                <a:lnTo>
                  <a:pt x="3517900" y="2184394"/>
                </a:lnTo>
                <a:cubicBezTo>
                  <a:pt x="3517900" y="2268565"/>
                  <a:pt x="3449665" y="2336800"/>
                  <a:pt x="33654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95802" y="38925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91064" y="410845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66762" y="72256"/>
                </a:moveTo>
                <a:lnTo>
                  <a:pt x="166762" y="109165"/>
                </a:lnTo>
                <a:lnTo>
                  <a:pt x="167134" y="109537"/>
                </a:lnTo>
                <a:cubicBezTo>
                  <a:pt x="171971" y="48220"/>
                  <a:pt x="223242" y="0"/>
                  <a:pt x="285824" y="0"/>
                </a:cubicBezTo>
                <a:cubicBezTo>
                  <a:pt x="300782" y="0"/>
                  <a:pt x="315144" y="2753"/>
                  <a:pt x="328315" y="7813"/>
                </a:cubicBezTo>
                <a:cubicBezTo>
                  <a:pt x="335756" y="10641"/>
                  <a:pt x="337096" y="20092"/>
                  <a:pt x="331515" y="25747"/>
                </a:cubicBezTo>
                <a:lnTo>
                  <a:pt x="265509" y="91753"/>
                </a:lnTo>
                <a:cubicBezTo>
                  <a:pt x="263277" y="93985"/>
                  <a:pt x="262012" y="97036"/>
                  <a:pt x="262012" y="100161"/>
                </a:cubicBezTo>
                <a:lnTo>
                  <a:pt x="262012" y="130969"/>
                </a:lnTo>
                <a:cubicBezTo>
                  <a:pt x="262012" y="137517"/>
                  <a:pt x="267370" y="142875"/>
                  <a:pt x="273918" y="142875"/>
                </a:cubicBezTo>
                <a:lnTo>
                  <a:pt x="304726" y="142875"/>
                </a:lnTo>
                <a:cubicBezTo>
                  <a:pt x="307851" y="142875"/>
                  <a:pt x="310902" y="141610"/>
                  <a:pt x="313134" y="139378"/>
                </a:cubicBezTo>
                <a:lnTo>
                  <a:pt x="379140" y="73372"/>
                </a:lnTo>
                <a:cubicBezTo>
                  <a:pt x="384795" y="67717"/>
                  <a:pt x="394246" y="69131"/>
                  <a:pt x="397073" y="76572"/>
                </a:cubicBezTo>
                <a:cubicBezTo>
                  <a:pt x="402134" y="89743"/>
                  <a:pt x="404887" y="104105"/>
                  <a:pt x="404887" y="119063"/>
                </a:cubicBezTo>
                <a:cubicBezTo>
                  <a:pt x="404887" y="164157"/>
                  <a:pt x="379809" y="203448"/>
                  <a:pt x="342751" y="223614"/>
                </a:cubicBezTo>
                <a:lnTo>
                  <a:pt x="403399" y="284262"/>
                </a:lnTo>
                <a:cubicBezTo>
                  <a:pt x="417314" y="298177"/>
                  <a:pt x="417314" y="320799"/>
                  <a:pt x="403399" y="334789"/>
                </a:cubicBezTo>
                <a:lnTo>
                  <a:pt x="358676" y="379512"/>
                </a:lnTo>
                <a:cubicBezTo>
                  <a:pt x="344760" y="393427"/>
                  <a:pt x="322138" y="393427"/>
                  <a:pt x="308149" y="379512"/>
                </a:cubicBezTo>
                <a:lnTo>
                  <a:pt x="214387" y="285750"/>
                </a:lnTo>
                <a:cubicBezTo>
                  <a:pt x="193997" y="265361"/>
                  <a:pt x="189384" y="235223"/>
                  <a:pt x="200620" y="210369"/>
                </a:cubicBezTo>
                <a:lnTo>
                  <a:pt x="133127" y="142875"/>
                </a:lnTo>
                <a:lnTo>
                  <a:pt x="96217" y="142875"/>
                </a:lnTo>
                <a:cubicBezTo>
                  <a:pt x="88255" y="142875"/>
                  <a:pt x="80814" y="138931"/>
                  <a:pt x="76423" y="132308"/>
                </a:cubicBezTo>
                <a:lnTo>
                  <a:pt x="17413" y="43830"/>
                </a:lnTo>
                <a:cubicBezTo>
                  <a:pt x="14288" y="39142"/>
                  <a:pt x="14883" y="32817"/>
                  <a:pt x="18901" y="28798"/>
                </a:cubicBezTo>
                <a:lnTo>
                  <a:pt x="52685" y="-4986"/>
                </a:lnTo>
                <a:cubicBezTo>
                  <a:pt x="56704" y="-9004"/>
                  <a:pt x="62954" y="-9599"/>
                  <a:pt x="67717" y="-6474"/>
                </a:cubicBezTo>
                <a:lnTo>
                  <a:pt x="156195" y="52462"/>
                </a:lnTo>
                <a:cubicBezTo>
                  <a:pt x="162818" y="56852"/>
                  <a:pt x="166762" y="64294"/>
                  <a:pt x="166762" y="72256"/>
                </a:cubicBezTo>
                <a:close/>
                <a:moveTo>
                  <a:pt x="160437" y="220712"/>
                </a:moveTo>
                <a:cubicBezTo>
                  <a:pt x="155749" y="248245"/>
                  <a:pt x="162223" y="277341"/>
                  <a:pt x="180082" y="300633"/>
                </a:cubicBezTo>
                <a:lnTo>
                  <a:pt x="109389" y="371252"/>
                </a:lnTo>
                <a:cubicBezTo>
                  <a:pt x="88478" y="392162"/>
                  <a:pt x="54546" y="392162"/>
                  <a:pt x="33635" y="371252"/>
                </a:cubicBezTo>
                <a:cubicBezTo>
                  <a:pt x="12725" y="350341"/>
                  <a:pt x="12725" y="316409"/>
                  <a:pt x="33635" y="295498"/>
                </a:cubicBezTo>
                <a:lnTo>
                  <a:pt x="134392" y="194742"/>
                </a:lnTo>
                <a:lnTo>
                  <a:pt x="160437" y="22078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92067" y="490855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92067" y="536575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diversity and autonomy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69734" y="3587750"/>
            <a:ext cx="3517900" cy="2336800"/>
          </a:xfrm>
          <a:custGeom>
            <a:avLst/>
            <a:gdLst/>
            <a:ahLst/>
            <a:cxnLst/>
            <a:rect l="l" t="t" r="r" b="b"/>
            <a:pathLst>
              <a:path w="3517900" h="2336800">
                <a:moveTo>
                  <a:pt x="152406" y="0"/>
                </a:moveTo>
                <a:lnTo>
                  <a:pt x="3365494" y="0"/>
                </a:lnTo>
                <a:cubicBezTo>
                  <a:pt x="3449665" y="0"/>
                  <a:pt x="3517900" y="68235"/>
                  <a:pt x="3517900" y="152406"/>
                </a:cubicBezTo>
                <a:lnTo>
                  <a:pt x="3517900" y="2184394"/>
                </a:lnTo>
                <a:cubicBezTo>
                  <a:pt x="3517900" y="2268565"/>
                  <a:pt x="3449665" y="2336800"/>
                  <a:pt x="33654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024467" y="389255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43542" y="4108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80293"/>
                </a:moveTo>
                <a:lnTo>
                  <a:pt x="179338" y="64815"/>
                </a:lnTo>
                <a:cubicBezTo>
                  <a:pt x="160734" y="39067"/>
                  <a:pt x="130894" y="23812"/>
                  <a:pt x="99045" y="23812"/>
                </a:cubicBezTo>
                <a:cubicBezTo>
                  <a:pt x="44351" y="23812"/>
                  <a:pt x="0" y="68163"/>
                  <a:pt x="0" y="122858"/>
                </a:cubicBezTo>
                <a:lnTo>
                  <a:pt x="0" y="124792"/>
                </a:lnTo>
                <a:cubicBezTo>
                  <a:pt x="0" y="142354"/>
                  <a:pt x="4614" y="160511"/>
                  <a:pt x="12353" y="178594"/>
                </a:cubicBezTo>
                <a:lnTo>
                  <a:pt x="91232" y="178594"/>
                </a:lnTo>
                <a:cubicBezTo>
                  <a:pt x="93613" y="178594"/>
                  <a:pt x="95771" y="177180"/>
                  <a:pt x="96738" y="174947"/>
                </a:cubicBezTo>
                <a:lnTo>
                  <a:pt x="120402" y="118170"/>
                </a:lnTo>
                <a:cubicBezTo>
                  <a:pt x="123155" y="111621"/>
                  <a:pt x="129555" y="107305"/>
                  <a:pt x="136624" y="107156"/>
                </a:cubicBezTo>
                <a:cubicBezTo>
                  <a:pt x="143694" y="107007"/>
                  <a:pt x="150242" y="111175"/>
                  <a:pt x="153144" y="117649"/>
                </a:cubicBezTo>
                <a:lnTo>
                  <a:pt x="191319" y="202406"/>
                </a:lnTo>
                <a:lnTo>
                  <a:pt x="222126" y="140791"/>
                </a:lnTo>
                <a:cubicBezTo>
                  <a:pt x="225177" y="134764"/>
                  <a:pt x="231353" y="130894"/>
                  <a:pt x="238125" y="130894"/>
                </a:cubicBezTo>
                <a:cubicBezTo>
                  <a:pt x="244897" y="130894"/>
                  <a:pt x="251073" y="134689"/>
                  <a:pt x="254124" y="140791"/>
                </a:cubicBezTo>
                <a:lnTo>
                  <a:pt x="271388" y="175245"/>
                </a:lnTo>
                <a:cubicBezTo>
                  <a:pt x="272430" y="177254"/>
                  <a:pt x="274439" y="178519"/>
                  <a:pt x="276746" y="178519"/>
                </a:cubicBezTo>
                <a:lnTo>
                  <a:pt x="368722" y="178519"/>
                </a:lnTo>
                <a:cubicBezTo>
                  <a:pt x="376535" y="160437"/>
                  <a:pt x="381074" y="142280"/>
                  <a:pt x="381074" y="124718"/>
                </a:cubicBezTo>
                <a:lnTo>
                  <a:pt x="381074" y="122783"/>
                </a:lnTo>
                <a:cubicBezTo>
                  <a:pt x="381000" y="68163"/>
                  <a:pt x="336649" y="23812"/>
                  <a:pt x="281955" y="23812"/>
                </a:cubicBezTo>
                <a:cubicBezTo>
                  <a:pt x="250180" y="23812"/>
                  <a:pt x="220266" y="39067"/>
                  <a:pt x="201662" y="64815"/>
                </a:cubicBezTo>
                <a:lnTo>
                  <a:pt x="190500" y="80218"/>
                </a:lnTo>
                <a:close/>
                <a:moveTo>
                  <a:pt x="349448" y="214313"/>
                </a:moveTo>
                <a:lnTo>
                  <a:pt x="276671" y="214313"/>
                </a:lnTo>
                <a:cubicBezTo>
                  <a:pt x="260896" y="214313"/>
                  <a:pt x="246459" y="205383"/>
                  <a:pt x="239390" y="191244"/>
                </a:cubicBezTo>
                <a:lnTo>
                  <a:pt x="238125" y="188714"/>
                </a:lnTo>
                <a:lnTo>
                  <a:pt x="206499" y="252040"/>
                </a:lnTo>
                <a:cubicBezTo>
                  <a:pt x="203448" y="258217"/>
                  <a:pt x="197048" y="262086"/>
                  <a:pt x="190128" y="261938"/>
                </a:cubicBezTo>
                <a:cubicBezTo>
                  <a:pt x="183207" y="261789"/>
                  <a:pt x="177031" y="257696"/>
                  <a:pt x="174203" y="251445"/>
                </a:cubicBezTo>
                <a:lnTo>
                  <a:pt x="137517" y="169962"/>
                </a:lnTo>
                <a:lnTo>
                  <a:pt x="129704" y="188714"/>
                </a:lnTo>
                <a:cubicBezTo>
                  <a:pt x="123230" y="204267"/>
                  <a:pt x="108049" y="214387"/>
                  <a:pt x="91232" y="214387"/>
                </a:cubicBezTo>
                <a:lnTo>
                  <a:pt x="31552" y="214387"/>
                </a:lnTo>
                <a:cubicBezTo>
                  <a:pt x="66675" y="269304"/>
                  <a:pt x="123081" y="319832"/>
                  <a:pt x="158353" y="346770"/>
                </a:cubicBezTo>
                <a:cubicBezTo>
                  <a:pt x="167580" y="353764"/>
                  <a:pt x="178891" y="357262"/>
                  <a:pt x="190426" y="357262"/>
                </a:cubicBezTo>
                <a:cubicBezTo>
                  <a:pt x="201960" y="357262"/>
                  <a:pt x="213345" y="353839"/>
                  <a:pt x="222498" y="346770"/>
                </a:cubicBezTo>
                <a:cubicBezTo>
                  <a:pt x="257919" y="319757"/>
                  <a:pt x="314325" y="269230"/>
                  <a:pt x="349448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720534" y="4908550"/>
            <a:ext cx="3416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Resilience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20534" y="5365750"/>
            <a:ext cx="341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Fault tolerance and recovery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8800" y="6534150"/>
            <a:ext cx="1188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Success requires careful planning of communication, data management, and operations.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443</Words>
  <Application>Microsoft Office PowerPoint</Application>
  <PresentationFormat>Custom</PresentationFormat>
  <Paragraphs>107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Noto Sans SC</vt:lpstr>
      <vt:lpstr>Oranienbaum</vt:lpstr>
      <vt:lpstr>Arial</vt:lpstr>
      <vt:lpstr>MiSans</vt:lpstr>
      <vt:lpstr>Calibri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microservices-aspnet-core</dc:title>
  <dc:subject>microservices-aspnet-core</dc:subject>
  <dc:creator>Kimi</dc:creator>
  <cp:lastModifiedBy>Tuan Tran Phuoc</cp:lastModifiedBy>
  <cp:revision>1</cp:revision>
  <dcterms:created xsi:type="dcterms:W3CDTF">2025-10-26T14:50:33Z</dcterms:created>
  <dcterms:modified xsi:type="dcterms:W3CDTF">2025-10-26T14:53:14Z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{"Label":"microservices-aspnet-core","ContentProducer":"001191110108MACG2KBH8F10000","ProduceID":"d3v39u9l51je915f2mrg","ReservedCode1":"","ContentPropagator":"001191110108MACG2KBH8F20000","PropagateID":"d3v39u9l51je915f2mrg","ReservedCode2":""}</vt:lpwstr>
  </property>
</Properties>
</file>